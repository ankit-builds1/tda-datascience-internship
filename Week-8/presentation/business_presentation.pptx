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ec83f6e4d44a64" /><Relationship Type="http://schemas.openxmlformats.org/officeDocument/2006/relationships/extended-properties" Target="/docProps/app.xml" Id="Ra2b63e31bf154c45" /><Relationship Type="http://schemas.openxmlformats.org/officeDocument/2006/relationships/officeDocument" Target="/ppt/presentation.xml" Id="R8daf24bf39a14d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aa6a1c4784d3b"/>
  </p:sldMasterIdLst>
  <p:notesMasterIdLst>
    <p:notesMasterId xmlns:r="http://schemas.openxmlformats.org/officeDocument/2006/relationships" r:id="R8a16683f49294ae5"/>
  </p:notesMasterIdLst>
  <p:sldIdLst>
    <p:sldId xmlns:r="http://schemas.openxmlformats.org/officeDocument/2006/relationships" id="256" r:id="Rbf94ebc19ac94ad8"/>
    <p:sldId xmlns:r="http://schemas.openxmlformats.org/officeDocument/2006/relationships" id="257" r:id="R4c80a425226e43cf"/>
    <p:sldId xmlns:r="http://schemas.openxmlformats.org/officeDocument/2006/relationships" id="258" r:id="Rcfc0ee5915dc4bfa"/>
    <p:sldId xmlns:r="http://schemas.openxmlformats.org/officeDocument/2006/relationships" id="259" r:id="R92ed033fb97045ce"/>
    <p:sldId xmlns:r="http://schemas.openxmlformats.org/officeDocument/2006/relationships" id="260" r:id="Rbef65b9d176e4a15"/>
    <p:sldId xmlns:r="http://schemas.openxmlformats.org/officeDocument/2006/relationships" id="261" r:id="R6950a453e0ab49de"/>
    <p:sldId xmlns:r="http://schemas.openxmlformats.org/officeDocument/2006/relationships" id="262" r:id="R623343daa4d841f0"/>
    <p:sldId xmlns:r="http://schemas.openxmlformats.org/officeDocument/2006/relationships" id="263" r:id="R1408131457aa40f4"/>
    <p:sldId xmlns:r="http://schemas.openxmlformats.org/officeDocument/2006/relationships" id="264" r:id="R0a47f3c7bbb940e8"/>
    <p:sldId xmlns:r="http://schemas.openxmlformats.org/officeDocument/2006/relationships" id="265" r:id="Rd8f22ece513341cb"/>
    <p:sldId xmlns:r="http://schemas.openxmlformats.org/officeDocument/2006/relationships" id="266" r:id="R3ea0b6103451497f"/>
    <p:sldId xmlns:r="http://schemas.openxmlformats.org/officeDocument/2006/relationships" id="267" r:id="R960f5e89888541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01b4cf2c742bd" /><Relationship Type="http://schemas.openxmlformats.org/officeDocument/2006/relationships/slideMaster" Target="/ppt/slideMasters/slideMaster1.xml" Id="Rac6aa6a1c4784d3b" /><Relationship Type="http://schemas.openxmlformats.org/officeDocument/2006/relationships/notesMaster" Target="/ppt/notesMasters/notesMaster1.xml" Id="R8a16683f49294ae5" /><Relationship Type="http://schemas.openxmlformats.org/officeDocument/2006/relationships/presProps" Target="/ppt/presProps.xml" Id="Raff3a9e027b14e5c" /><Relationship Type="http://schemas.openxmlformats.org/officeDocument/2006/relationships/tableStyles" Target="/ppt/tableStyles.xml" Id="Rd33609ce8b9946d5" /><Relationship Type="http://schemas.openxmlformats.org/officeDocument/2006/relationships/slide" Target="/ppt/slides/slide1.xml" Id="Rbf94ebc19ac94ad8" /><Relationship Type="http://schemas.openxmlformats.org/officeDocument/2006/relationships/slide" Target="/ppt/slides/slide2.xml" Id="R4c80a425226e43cf" /><Relationship Type="http://schemas.openxmlformats.org/officeDocument/2006/relationships/slide" Target="/ppt/slides/slide3.xml" Id="Rcfc0ee5915dc4bfa" /><Relationship Type="http://schemas.openxmlformats.org/officeDocument/2006/relationships/slide" Target="/ppt/slides/slide4.xml" Id="R92ed033fb97045ce" /><Relationship Type="http://schemas.openxmlformats.org/officeDocument/2006/relationships/slide" Target="/ppt/slides/slide5.xml" Id="Rbef65b9d176e4a15" /><Relationship Type="http://schemas.openxmlformats.org/officeDocument/2006/relationships/slide" Target="/ppt/slides/slide6.xml" Id="R6950a453e0ab49de" /><Relationship Type="http://schemas.openxmlformats.org/officeDocument/2006/relationships/slide" Target="/ppt/slides/slide7.xml" Id="R623343daa4d841f0" /><Relationship Type="http://schemas.openxmlformats.org/officeDocument/2006/relationships/slide" Target="/ppt/slides/slide8.xml" Id="R1408131457aa40f4" /><Relationship Type="http://schemas.openxmlformats.org/officeDocument/2006/relationships/slide" Target="/ppt/slides/slide9.xml" Id="R0a47f3c7bbb940e8" /><Relationship Type="http://schemas.openxmlformats.org/officeDocument/2006/relationships/slide" Target="/ppt/slides/slide10.xml" Id="Rd8f22ece513341cb" /><Relationship Type="http://schemas.openxmlformats.org/officeDocument/2006/relationships/slide" Target="/ppt/slides/slide11.xml" Id="R3ea0b6103451497f" /><Relationship Type="http://schemas.openxmlformats.org/officeDocument/2006/relationships/slide" Target="/ppt/slides/slide12.xml" Id="R960f5e898885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72c358dd5f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e1362c0a8b4af0" /><Relationship Type="http://schemas.openxmlformats.org/officeDocument/2006/relationships/notesMaster" Target="/ppt/notesMasters/notesMaster1.xml" Id="R10087794202044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15f3dd7c3c476d" /><Relationship Type="http://schemas.openxmlformats.org/officeDocument/2006/relationships/notesMaster" Target="/ppt/notesMasters/notesMaster1.xml" Id="Rf614722768b44a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c90069ca074ef1" /><Relationship Type="http://schemas.openxmlformats.org/officeDocument/2006/relationships/notesMaster" Target="/ppt/notesMasters/notesMaster1.xml" Id="R02805ba105b448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c441164404010" /><Relationship Type="http://schemas.openxmlformats.org/officeDocument/2006/relationships/notesMaster" Target="/ppt/notesMasters/notesMaster1.xml" Id="R60d06b319c6e43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8ecd59aa694ea2" /><Relationship Type="http://schemas.openxmlformats.org/officeDocument/2006/relationships/notesMaster" Target="/ppt/notesMasters/notesMaster1.xml" Id="R58b9171ba3c748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9c7278a88a44ec" /><Relationship Type="http://schemas.openxmlformats.org/officeDocument/2006/relationships/notesMaster" Target="/ppt/notesMasters/notesMaster1.xml" Id="R5dac13089df849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7a097ebcfc4c51" /><Relationship Type="http://schemas.openxmlformats.org/officeDocument/2006/relationships/notesMaster" Target="/ppt/notesMasters/notesMaster1.xml" Id="R433ccd89d8c247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82eadfdd974ceb" /><Relationship Type="http://schemas.openxmlformats.org/officeDocument/2006/relationships/notesMaster" Target="/ppt/notesMasters/notesMaster1.xml" Id="Rc8abbd48f50241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60d9a65dfd47f1" /><Relationship Type="http://schemas.openxmlformats.org/officeDocument/2006/relationships/notesMaster" Target="/ppt/notesMasters/notesMaster1.xml" Id="R665fcef47bfb4a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540b61f7654bdd" /><Relationship Type="http://schemas.openxmlformats.org/officeDocument/2006/relationships/notesMaster" Target="/ppt/notesMasters/notesMaster1.xml" Id="R524f6ffd8d204b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d1b5d6f32945df" /><Relationship Type="http://schemas.openxmlformats.org/officeDocument/2006/relationships/notesMaster" Target="/ppt/notesMasters/notesMaster1.xml" Id="R168787b2ace843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848d1042184b10" /><Relationship Type="http://schemas.openxmlformats.org/officeDocument/2006/relationships/notesMaster" Target="/ppt/notesMasters/notesMaster1.xml" Id="R0342c488cbc6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72f965cfc44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242e7c06c54749" /><Relationship Type="http://schemas.openxmlformats.org/officeDocument/2006/relationships/slideLayout" Target="/ppt/slideLayouts/slideLayout1.xml" Id="R3305dd0cc676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5dd0cc676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51860732443b" /><Relationship Type="http://schemas.openxmlformats.org/officeDocument/2006/relationships/notesSlide" Target="/ppt/notesSlides/notesSlide1.xml" Id="R3da3184c5b124a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ed8bb9c7741ed" /><Relationship Type="http://schemas.openxmlformats.org/officeDocument/2006/relationships/notesSlide" Target="/ppt/notesSlides/notesSlide2.xml" Id="Re3f476d791f448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642298388464c" /><Relationship Type="http://schemas.openxmlformats.org/officeDocument/2006/relationships/notesSlide" Target="/ppt/notesSlides/notesSlide3.xml" Id="R4dec2f7e64f4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e7184d8014604" /><Relationship Type="http://schemas.openxmlformats.org/officeDocument/2006/relationships/notesSlide" Target="/ppt/notesSlides/notesSlide4.xml" Id="R82b358fb10214c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2d152a2cf4704" /><Relationship Type="http://schemas.openxmlformats.org/officeDocument/2006/relationships/chart" Target="/ppt/slides/charts/chart1.xml" Id="R8b8de751bc7c47bc" /><Relationship Type="http://schemas.openxmlformats.org/officeDocument/2006/relationships/notesSlide" Target="/ppt/notesSlides/notesSlide5.xml" Id="R6449d21965d841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fd515564b47d9" /><Relationship Type="http://schemas.openxmlformats.org/officeDocument/2006/relationships/chart" Target="/ppt/slides/charts/chart2.xml" Id="Rd560f931ecdc49d4" /><Relationship Type="http://schemas.openxmlformats.org/officeDocument/2006/relationships/notesSlide" Target="/ppt/notesSlides/notesSlide6.xml" Id="R825a56dde1494c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5176dae414aae" /><Relationship Type="http://schemas.openxmlformats.org/officeDocument/2006/relationships/notesSlide" Target="/ppt/notesSlides/notesSlide7.xml" Id="R4933eb0ad4f3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8c3309d4e4df4" /><Relationship Type="http://schemas.openxmlformats.org/officeDocument/2006/relationships/notesSlide" Target="/ppt/notesSlides/notesSlide8.xml" Id="R78a62102387248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ccdb1d8b74769" /><Relationship Type="http://schemas.openxmlformats.org/officeDocument/2006/relationships/notesSlide" Target="/ppt/notesSlides/notesSlide9.xml" Id="R0f10823d55ca48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dc5f7f3db4368" /><Relationship Type="http://schemas.openxmlformats.org/officeDocument/2006/relationships/notesSlide" Target="/ppt/notesSlides/notesSlide10.xml" Id="Rb67a3801fa494c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da0c980f64e61" /><Relationship Type="http://schemas.openxmlformats.org/officeDocument/2006/relationships/notesSlide" Target="/ppt/notesSlides/notesSlide11.xml" Id="R8cbf143c43544e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cad05543b4ce9" /><Relationship Type="http://schemas.openxmlformats.org/officeDocument/2006/relationships/notesSlide" Target="/ppt/notesSlides/notesSlide12.xml" Id="R265b19d3ce314e1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Churn rate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Month-to-month</c:v>
              </c:pt>
              <c:pt idx="1">
                <c:v>Two year</c:v>
              </c:pt>
              <c:pt idx="2">
                <c:v>One year</c:v>
              </c:pt>
            </c:strLit>
          </c:cat>
          <c:val>
            <c:numLit>
              <c:formatCode>General</c:formatCode>
              <c:ptCount val="3"/>
              <c:pt idx="0">
                <c:v>0.20588235294117646</c:v>
              </c:pt>
              <c:pt idx="1">
                <c:v>0.06944444444444445</c:v>
              </c:pt>
              <c:pt idx="2">
                <c:v>0.043010752688172046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Customers</c:v>
          </c:tx>
          <c:spPr>
            <a:solidFill xmlns:a="http://schemas.openxmlformats.org/drawingml/2006/main">
              <a:schemeClr val="accent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Monitor</c:v>
              </c:pt>
              <c:pt idx="1">
                <c:v>Nurture</c:v>
              </c:pt>
              <c:pt idx="2">
                <c:v>Save</c:v>
              </c:pt>
              <c:pt idx="3">
                <c:v>Urgent Save</c:v>
              </c:pt>
            </c:strLit>
          </c:cat>
          <c:val>
            <c:numLit>
              <c:formatCode>General</c:formatCode>
              <c:ptCount val="4"/>
              <c:pt idx="0">
                <c:v>125</c:v>
              </c:pt>
              <c:pt idx="1">
                <c:v>125</c:v>
              </c:pt>
              <c:pt idx="2">
                <c:v>125</c:v>
              </c:pt>
              <c:pt idx="3">
                <c:v>125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814FC1-8776-4767-9F42-ECD67292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CUSTOMER CHURN REDUCTION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50D53-A2D6-4088-9120-AAF1001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2E8F0"/>
                </a:solidFill>
              </a:defRPr>
            </a:pPr>
            <a:r>
              <a:rPr sz="1950">
                <a:solidFill>
                  <a:srgbClr val="E2E8F0"/>
                </a:solidFill>
              </a:rPr>
              <a:t>Complete Business Analysis 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BD08B-7DA0-4C3A-98C3-AECC64C2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AD5E2"/>
                </a:solidFill>
              </a:defRPr>
            </a:pPr>
            <a:r>
              <a:rPr sz="1500">
                <a:solidFill>
                  <a:srgbClr val="CAD5E2"/>
                </a:solidFill>
              </a:rPr>
              <a:t>Ankit Dash | TDA Data Science Internship | Week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FA0C7-AF90-445C-B8C4-2C0D1D92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CD942-2498-462E-BAB2-52EE536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28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MAIN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C215B-B265-483E-A179-CF2E665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500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812C9-3237-4B6F-9DFF-58695C8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A6046-1B90-4E13-802F-BBDFB95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CHURN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F0020-C132-4F9D-BC41-80C9463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000B"/>
                </a:solidFill>
              </a:defRPr>
            </a:pPr>
            <a:r>
              <a:rPr sz="2250" b="1">
                <a:solidFill>
                  <a:srgbClr val="E7000B"/>
                </a:solidFill>
              </a:rPr>
              <a:t>10.6%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8DAEF-E55B-4F48-A3D9-FC1C421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AC8CA-5B49-4354-93C5-FB7F3481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VALUE AT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BBFDD-0CA3-4C70-BEB0-F396F8C7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9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INR 41,598</a:t>
            </a:r>
          </a:p>
        </p:txBody>
      </p:sp>
    </p:spTree>
    <p:extLst>
      <p:ext uri="{BB962C8B-B14F-4D97-AF65-F5344CB8AC3E}">
        <p14:creationId xmlns:p14="http://schemas.microsoft.com/office/powerpoint/2010/main" val="1589550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6020F-BF48-4CF4-A601-B5333568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685AE-849C-4BC6-B4A8-C164F938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Business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86DF8-BCA4-4403-9437-59831C8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Prevent avoidable churn and protect recurring revenue.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47474-96CE-43E4-8ABC-D9C205BA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56DA-3E9F-4BDE-A16D-5788E23A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- Customer churn directly reduces recurring revenue.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767D7-B6AA-4346-98BB-52E99F93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- Retention action should focus on high-risk, high-value customers.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3B331-FC8A-4506-9208-6464CD13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- The project converts raw customer data into an implementation-ready priority queue.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8F7A0-B167-458F-948C-6EBF68C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106EA-E7A3-48BE-B8BB-1DBC20E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622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SUCCESS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FDCBB-EA33-4EB1-B215-9327702A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Lower churn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1BE85-3E44-438D-914E-4D0426BE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C15A4-7518-49C9-B494-F762FB6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95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SECONDARY 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E433F-8062-4774-ACBE-385BE53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9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Saved MRR</a:t>
            </a:r>
          </a:p>
        </p:txBody>
      </p:sp>
    </p:spTree>
    <p:extLst>
      <p:ext uri="{BB962C8B-B14F-4D97-AF65-F5344CB8AC3E}">
        <p14:creationId xmlns:p14="http://schemas.microsoft.com/office/powerpoint/2010/main" val="778776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B5BAE-FD22-4BF0-B813-41ED3BEE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998FD-96D9-4B76-9BC4-DBA283D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Data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A84D1-FD3C-4A7B-8879-5DC5FC33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Main churn dataset plus supporting business datasets.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EB58-181E-45B0-84F3-EB567D9E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76300" y="2571750"/>
          <a:ext xmlns:a="http://schemas.openxmlformats.org/drawingml/2006/main" cx="9906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02000"/>
                <a:gridCol w="3302000"/>
                <a:gridCol w="3302000"/>
              </a:tblGrid>
              <a:tr h="619125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Role in capstone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customer_churn.csv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Main 500+ row dataset for churn analysis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sales_data.csv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Supporting sales performance context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house_prices.csv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Portfolio breadth and pricing analysis example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686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B6180-BBEC-4127-A2E8-7DACC12C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1D00B-A268-4024-8117-E7D0819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Executive KPIs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16F0E-27C2-4223-B317-D38A685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The customer base has a measurable churn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4F9CB-4F20-4F87-A841-6D26B681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0ADDE-4616-4582-8B68-5042B0CF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53E73-825B-49D7-A2F0-173AC2F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CUSTOMERS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B5A68-908F-4DDD-9151-64D12F8D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5ECB7-09F2-4549-9583-75F398DD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1909F-410A-4101-9678-BF69B28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CHURN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5D775-1EA8-4EB3-93F3-F66FD931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76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000B"/>
                </a:solidFill>
              </a:defRPr>
            </a:pPr>
            <a:r>
              <a:rPr sz="2250" b="1">
                <a:solidFill>
                  <a:srgbClr val="E7000B"/>
                </a:solidFill>
              </a:rPr>
              <a:t>10.6%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E3A5-E130-4C3E-B64F-60C9E44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62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76B71-A02C-40CE-8D0C-18524D42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AVG MONTHLY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2B30C-CCA9-451E-9C22-16FA7426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INR 114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E8E06-ABA6-4B0D-9DAA-56F5ACCF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26D0A-04CC-4DDD-B58F-9D21A935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2748E"/>
                </a:solidFill>
              </a:defRPr>
            </a:pPr>
            <a:r>
              <a:rPr sz="1125" b="1">
                <a:solidFill>
                  <a:srgbClr val="62748E"/>
                </a:solidFill>
              </a:rPr>
              <a:t>VALUE AT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6F7DA-7407-4E3D-BDC7-8F8E7207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INR 41,598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05C8C-F2FF-4532-8EA3-F839DC55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14158"/>
                </a:solidFill>
              </a:defRPr>
            </a:pPr>
            <a:r>
              <a:rPr sz="1500">
                <a:solidFill>
                  <a:srgbClr val="314158"/>
                </a:solidFill>
              </a:rPr>
              <a:t>- Highest risk contract segment: Month-to-month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217B2-B644-4AF4-AB3D-2C4E9B0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14158"/>
                </a:solidFill>
              </a:defRPr>
            </a:pPr>
            <a:r>
              <a:rPr sz="1500">
                <a:solidFill>
                  <a:srgbClr val="314158"/>
                </a:solidFill>
              </a:rPr>
              <a:t>- Use churn probability and revenue value together.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C7AB6-D838-4BAA-9987-70CA77E6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14158"/>
                </a:solidFill>
              </a:defRPr>
            </a:pPr>
            <a:r>
              <a:rPr sz="1500">
                <a:solidFill>
                  <a:srgbClr val="314158"/>
                </a:solidFill>
              </a:rPr>
              <a:t>- Retention should be operationalized as a weekly queue.</a:t>
            </a:r>
          </a:p>
        </p:txBody>
      </p:sp>
    </p:spTree>
    <p:extLst>
      <p:ext uri="{BB962C8B-B14F-4D97-AF65-F5344CB8AC3E}">
        <p14:creationId xmlns:p14="http://schemas.microsoft.com/office/powerpoint/2010/main" val="1847374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EBDB0-F8F7-424D-BC31-81254CD6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8CB46-ECA7-41DD-845B-B34D14EB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Churn by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03304-847D-4CC5-8EF2-C6D4F391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Contract type is a practical retention lever.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A9382-3F45-440C-98FF-43244B7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428750" y="2476500"/>
          <a:ext xmlns:a="http://schemas.openxmlformats.org/drawingml/2006/main" cx="876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8de751bc7c47bc"/>
          </a:graphicData>
        </a:graphic>
      </p:graphicFrame>
    </p:spTree>
    <p:extLst>
      <p:ext uri="{BB962C8B-B14F-4D97-AF65-F5344CB8AC3E}">
        <p14:creationId xmlns:p14="http://schemas.microsoft.com/office/powerpoint/2010/main" val="815906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49396-7E0B-4CF2-B544-4343E98F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E2396-E58D-4E12-BAEA-76D4D01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Retention Priority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D1470-D043-437F-8F8C-12A5F847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Model output becomes an action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28B5E-DF61-49C2-8B50-CB004A2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428750" y="2476500"/>
          <a:ext xmlns:a="http://schemas.openxmlformats.org/drawingml/2006/main" cx="876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60f931ecdc49d4"/>
          </a:graphicData>
        </a:graphic>
      </p:graphicFrame>
    </p:spTree>
    <p:extLst>
      <p:ext uri="{BB962C8B-B14F-4D97-AF65-F5344CB8AC3E}">
        <p14:creationId xmlns:p14="http://schemas.microsoft.com/office/powerpoint/2010/main" val="1537702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00C4BC-8AF3-4610-B514-0C7AF1E2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D97C-A112-407B-AA59-8AC00AF0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Statistical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0E941-9005-4B43-81CA-BBB375D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Tests validate which differences deserve business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103E2-EB8E-4445-B071-BD325A71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76300" y="2457450"/>
          <a:ext xmlns:a="http://schemas.openxmlformats.org/drawingml/2006/main" cx="10096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5500"/>
                <a:gridCol w="3365500"/>
                <a:gridCol w="3365500"/>
              </a:tblGrid>
              <a:tr h="678656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p-value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Business interpretation</a:t>
                      </a:r>
                    </a:p>
                  </a:txBody>
                  <a:tcPr marL="91440" marR="91440" marT="45720" marB="4572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t>Tenure: churned vs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Tenure is a meaningful churn signal</a:t>
                      </a:r>
                    </a:p>
                  </a:txBody>
                  <a:tcPr marL="91440" marR="91440" marT="45720" marB="4572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t>Monthly charges: churned vs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0.0101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Price sensitivity should be monitored</a:t>
                      </a:r>
                    </a:p>
                  </a:txBody>
                  <a:tcPr marL="91440" marR="91440" marT="45720" marB="45720"/>
                </a:tc>
              </a:tr>
              <a:tr h="678656">
                <a:tc>
                  <a:txBody>
                    <a:bodyPr/>
                    <a:lstStyle/>
                    <a:p>
                      <a:r>
                        <a:t>Contract type vs churn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Contract design connects to churn behavior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785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1B510-B20C-4A57-8E8B-125EA9B9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B8C80-F609-4753-B6C9-E882C8AE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Analysis Techniques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F2E43-C931-458C-B1F3-16621A60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The capstone uses more than three analysis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BE87F-16BD-4534-B1AC-096C7FD8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962E8-E0BD-41A1-8DEE-EFA0D7D9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Data cleaning and quality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90B2-C369-4CE9-92FA-8E93120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Exploratory analysis and customer segmentation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FED1C-0DEC-4F49-8454-64D8C91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Hypothesis testing with t-tests and chi-square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43131-4A93-460F-81DD-7F42F3D1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Correlation analysis across customer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6A7CC-4390-4AAA-9F6A-18B5099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Logistic regression churn-risk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29848-D170-4E34-9642-B215B64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Business implementation planning</a:t>
            </a:r>
          </a:p>
        </p:txBody>
      </p:sp>
    </p:spTree>
    <p:extLst>
      <p:ext uri="{BB962C8B-B14F-4D97-AF65-F5344CB8AC3E}">
        <p14:creationId xmlns:p14="http://schemas.microsoft.com/office/powerpoint/2010/main" val="1720339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ECBE4-1DCE-484B-9D66-05848179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08765-39E6-40D0-92D7-F1C8DC08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D8330-E9D7-4414-A13F-CF410E5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Move from insight to retention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D221B-3C86-4E3D-865F-729C00FF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996E2-6FED-4DFB-85DF-459C37AD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- Prioritize month-to-month and electronic-check customers for proactive retention outreach.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BA4AF-27E6-49F8-8B5F-EBCB34D9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- Build an urgent-save queue using predicted churn risk multiplied by monthly revenue impact.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D8D21-6E3C-4CC0-A75B-38E01DE5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- Offer annual contract migration incentives to customers with high monthly charges and short tenure.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B8530-BCAF-4842-B2C1-405D0A3C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- Track retention success with churn rate, saved monthly recurring revenue, and conversion to longer contracts.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69E35-AFD1-47A1-A3C6-91B7B00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- Use the same analysis pattern as a portfolio template for sales and real-estate business datasets.</a:t>
            </a:r>
          </a:p>
        </p:txBody>
      </p:sp>
    </p:spTree>
    <p:extLst>
      <p:ext uri="{BB962C8B-B14F-4D97-AF65-F5344CB8AC3E}">
        <p14:creationId xmlns:p14="http://schemas.microsoft.com/office/powerpoint/2010/main" val="1128011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6AF15-A22A-4B7C-8B48-AF871C6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17A5C-1E37-46A0-A43D-E2DF7605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Implementation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6AF2D-34A0-4F31-9D41-1B5E198D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A four-week sprint turns the analysis into operating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2D59C-C777-421E-A2A6-AFC1254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76300" y="2476500"/>
          <a:ext xmlns:a="http://schemas.openxmlformats.org/drawingml/2006/main" cx="10096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5500"/>
                <a:gridCol w="3365500"/>
                <a:gridCol w="3365500"/>
              </a:tblGrid>
              <a:tr h="5715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Success metric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Deploy risk scoring and urgent-save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Queue coverage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Week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Launch targeted retention offers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Contact completion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Week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Measure saved revenue and contract migration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Saved MRR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Week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Refine model with campaign response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Churn reduction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1425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3D4CC6-FE0B-4C29-A7B8-BBBBF3B9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5E1C2-C2BD-443E-B082-3ABC51A3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Portfolio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D979F-355F-4A2D-BE0B-A589E04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The project is ready for review and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00264-C9F7-44BD-9FDD-4F69A85A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9F8EF-CF5A-4FA0-A31A-7BC8DB9F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Comprehensive README and setup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03AC-3938-4699-A8ED-C73A44A9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Cleaned and raw data in a structured data folder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21B47-03FC-4041-A6AB-538AE6F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Capstone notebook and reproducible 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1F030-6FB5-4356-8295-BAAE33F1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Executive summary and technical report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599B9-5EE9-4F24-8CF4-9BB25D3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Business presentation deck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F9302-3CE0-405B-B42D-BA5B4591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14158"/>
                </a:solidFill>
              </a:defRPr>
            </a:pPr>
            <a:r>
              <a:rPr sz="1725">
                <a:solidFill>
                  <a:srgbClr val="314158"/>
                </a:solidFill>
              </a:rPr>
              <a:t>- Portfolio page with business context and outcome</a:t>
            </a:r>
          </a:p>
        </p:txBody>
      </p:sp>
    </p:spTree>
    <p:extLst>
      <p:ext uri="{BB962C8B-B14F-4D97-AF65-F5344CB8AC3E}">
        <p14:creationId xmlns:p14="http://schemas.microsoft.com/office/powerpoint/2010/main" val="1732202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64E34-C207-48BB-8E02-97AB4B7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TDA DATA SCIENCE INTERNSHIP | WEEK 8 CAPSTONE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65333-6463-43AF-939C-DABB8D55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Final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0E911-48F4-4CA5-AA4C-09219F47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5556C"/>
                </a:solidFill>
              </a:defRPr>
            </a:pPr>
            <a:r>
              <a:rPr sz="1575">
                <a:solidFill>
                  <a:srgbClr val="45556C"/>
                </a:solidFill>
              </a:rPr>
              <a:t>Retention analytics is useful only when it changes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22D01-F508-490F-B49B-E288B1F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Week 8 Capstone |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ACCF6-69C9-47DB-AAD9-EFFEDACF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The analysis identifies who is likely to churn, why they matter financially, and how the business should act over the next four weeks.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57E14-DA07-41DB-AF2D-CC21690A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56C"/>
                </a:solidFill>
              </a:defRPr>
            </a:pPr>
            <a:r>
              <a:rPr sz="1800">
                <a:solidFill>
                  <a:srgbClr val="45556C"/>
                </a:solidFill>
              </a:rPr>
              <a:t>Capstone complete: from raw data to business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271910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2026-06-27T07:04:44.0450000Z</dcterms:created>
  <dcterms:modified xsi:type="dcterms:W3CDTF">2026-06-27T07:04:44.0450000Z</dcterms:modified>
</coreProperties>
</file>